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Rustic Printed" charset="1" panose="00000000000000000000"/>
      <p:regular r:id="rId20"/>
    </p:embeddedFont>
    <p:embeddedFont>
      <p:font typeface="Canva Sans Medium" charset="1" panose="020B0603030501040103"/>
      <p:regular r:id="rId21"/>
    </p:embeddedFont>
    <p:embeddedFont>
      <p:font typeface="Open Sans Bold" charset="1" panose="020B0806030504020204"/>
      <p:regular r:id="rId22"/>
    </p:embeddedFont>
    <p:embeddedFont>
      <p:font typeface="Open Sans" charset="1" panose="020B0606030504020204"/>
      <p:regular r:id="rId23"/>
    </p:embeddedFont>
    <p:embeddedFont>
      <p:font typeface="Canva Sans Bold" charset="1" panose="020B0803030501040103"/>
      <p:regular r:id="rId24"/>
    </p:embeddedFont>
    <p:embeddedFont>
      <p:font typeface="Canva Sans" charset="1" panose="020B0503030501040103"/>
      <p:regular r:id="rId25"/>
    </p:embeddedFont>
    <p:embeddedFont>
      <p:font typeface="Canva Sans Bold Italics" charset="1" panose="020B08030305010401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 Id="rId4"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763162" y="-789039"/>
            <a:ext cx="2875332" cy="3635478"/>
          </a:xfrm>
          <a:custGeom>
            <a:avLst/>
            <a:gdLst/>
            <a:ahLst/>
            <a:cxnLst/>
            <a:rect r="r" b="b" t="t" l="l"/>
            <a:pathLst>
              <a:path h="3635478" w="2875332">
                <a:moveTo>
                  <a:pt x="0" y="0"/>
                </a:moveTo>
                <a:lnTo>
                  <a:pt x="2875333" y="0"/>
                </a:lnTo>
                <a:lnTo>
                  <a:pt x="2875333" y="3635478"/>
                </a:lnTo>
                <a:lnTo>
                  <a:pt x="0" y="36354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1044801" y="9258300"/>
            <a:ext cx="5315394" cy="1913542"/>
          </a:xfrm>
          <a:custGeom>
            <a:avLst/>
            <a:gdLst/>
            <a:ahLst/>
            <a:cxnLst/>
            <a:rect r="r" b="b" t="t" l="l"/>
            <a:pathLst>
              <a:path h="1913542" w="5315394">
                <a:moveTo>
                  <a:pt x="0" y="0"/>
                </a:moveTo>
                <a:lnTo>
                  <a:pt x="5315394" y="0"/>
                </a:lnTo>
                <a:lnTo>
                  <a:pt x="5315394" y="1913542"/>
                </a:lnTo>
                <a:lnTo>
                  <a:pt x="0" y="19135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2830164">
            <a:off x="5322070" y="8801780"/>
            <a:ext cx="3550978" cy="3705954"/>
          </a:xfrm>
          <a:custGeom>
            <a:avLst/>
            <a:gdLst/>
            <a:ahLst/>
            <a:cxnLst/>
            <a:rect r="r" b="b" t="t" l="l"/>
            <a:pathLst>
              <a:path h="3705954" w="3550978">
                <a:moveTo>
                  <a:pt x="0" y="0"/>
                </a:moveTo>
                <a:lnTo>
                  <a:pt x="3550978" y="0"/>
                </a:lnTo>
                <a:lnTo>
                  <a:pt x="3550978" y="3705955"/>
                </a:lnTo>
                <a:lnTo>
                  <a:pt x="0" y="37059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950933">
            <a:off x="-2582731" y="3638336"/>
            <a:ext cx="4236628" cy="4828066"/>
          </a:xfrm>
          <a:custGeom>
            <a:avLst/>
            <a:gdLst/>
            <a:ahLst/>
            <a:cxnLst/>
            <a:rect r="r" b="b" t="t" l="l"/>
            <a:pathLst>
              <a:path h="4828066" w="4236628">
                <a:moveTo>
                  <a:pt x="0" y="0"/>
                </a:moveTo>
                <a:lnTo>
                  <a:pt x="4236628" y="0"/>
                </a:lnTo>
                <a:lnTo>
                  <a:pt x="4236628" y="4828066"/>
                </a:lnTo>
                <a:lnTo>
                  <a:pt x="0" y="48280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5584336" y="-1920382"/>
            <a:ext cx="4623736" cy="3907057"/>
          </a:xfrm>
          <a:custGeom>
            <a:avLst/>
            <a:gdLst/>
            <a:ahLst/>
            <a:cxnLst/>
            <a:rect r="r" b="b" t="t" l="l"/>
            <a:pathLst>
              <a:path h="3907057" w="4623736">
                <a:moveTo>
                  <a:pt x="0" y="0"/>
                </a:moveTo>
                <a:lnTo>
                  <a:pt x="4623735" y="0"/>
                </a:lnTo>
                <a:lnTo>
                  <a:pt x="4623735" y="3907057"/>
                </a:lnTo>
                <a:lnTo>
                  <a:pt x="0" y="390705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366315">
            <a:off x="16272866" y="2044607"/>
            <a:ext cx="3659690" cy="4299195"/>
          </a:xfrm>
          <a:custGeom>
            <a:avLst/>
            <a:gdLst/>
            <a:ahLst/>
            <a:cxnLst/>
            <a:rect r="r" b="b" t="t" l="l"/>
            <a:pathLst>
              <a:path h="4299195" w="3659690">
                <a:moveTo>
                  <a:pt x="0" y="0"/>
                </a:moveTo>
                <a:lnTo>
                  <a:pt x="3659690" y="0"/>
                </a:lnTo>
                <a:lnTo>
                  <a:pt x="3659690" y="4299195"/>
                </a:lnTo>
                <a:lnTo>
                  <a:pt x="0" y="429919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4624977" y="-3611469"/>
            <a:ext cx="4567505" cy="4720935"/>
          </a:xfrm>
          <a:custGeom>
            <a:avLst/>
            <a:gdLst/>
            <a:ahLst/>
            <a:cxnLst/>
            <a:rect r="r" b="b" t="t" l="l"/>
            <a:pathLst>
              <a:path h="4720935" w="4567505">
                <a:moveTo>
                  <a:pt x="0" y="0"/>
                </a:moveTo>
                <a:lnTo>
                  <a:pt x="4567505" y="0"/>
                </a:lnTo>
                <a:lnTo>
                  <a:pt x="4567505" y="4720935"/>
                </a:lnTo>
                <a:lnTo>
                  <a:pt x="0" y="472093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0">
            <a:off x="9924524" y="8931997"/>
            <a:ext cx="5331561" cy="3445521"/>
          </a:xfrm>
          <a:custGeom>
            <a:avLst/>
            <a:gdLst/>
            <a:ahLst/>
            <a:cxnLst/>
            <a:rect r="r" b="b" t="t" l="l"/>
            <a:pathLst>
              <a:path h="3445521" w="5331561">
                <a:moveTo>
                  <a:pt x="0" y="0"/>
                </a:moveTo>
                <a:lnTo>
                  <a:pt x="5331562" y="0"/>
                </a:lnTo>
                <a:lnTo>
                  <a:pt x="5331562" y="3445521"/>
                </a:lnTo>
                <a:lnTo>
                  <a:pt x="0" y="344552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15513261" y="7125624"/>
            <a:ext cx="3869837" cy="4265352"/>
          </a:xfrm>
          <a:custGeom>
            <a:avLst/>
            <a:gdLst/>
            <a:ahLst/>
            <a:cxnLst/>
            <a:rect r="r" b="b" t="t" l="l"/>
            <a:pathLst>
              <a:path h="4265352" w="3869837">
                <a:moveTo>
                  <a:pt x="0" y="0"/>
                </a:moveTo>
                <a:lnTo>
                  <a:pt x="3869837" y="0"/>
                </a:lnTo>
                <a:lnTo>
                  <a:pt x="3869837" y="4265352"/>
                </a:lnTo>
                <a:lnTo>
                  <a:pt x="0" y="426535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10800000">
            <a:off x="9144000" y="-1365351"/>
            <a:ext cx="6660247" cy="2730701"/>
          </a:xfrm>
          <a:custGeom>
            <a:avLst/>
            <a:gdLst/>
            <a:ahLst/>
            <a:cxnLst/>
            <a:rect r="r" b="b" t="t" l="l"/>
            <a:pathLst>
              <a:path h="2730701" w="6660247">
                <a:moveTo>
                  <a:pt x="0" y="0"/>
                </a:moveTo>
                <a:lnTo>
                  <a:pt x="6660247" y="0"/>
                </a:lnTo>
                <a:lnTo>
                  <a:pt x="6660247" y="2730702"/>
                </a:lnTo>
                <a:lnTo>
                  <a:pt x="0" y="273070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2611628">
            <a:off x="1608356" y="-1969747"/>
            <a:ext cx="4007991" cy="3041063"/>
          </a:xfrm>
          <a:custGeom>
            <a:avLst/>
            <a:gdLst/>
            <a:ahLst/>
            <a:cxnLst/>
            <a:rect r="r" b="b" t="t" l="l"/>
            <a:pathLst>
              <a:path h="3041063" w="4007991">
                <a:moveTo>
                  <a:pt x="0" y="0"/>
                </a:moveTo>
                <a:lnTo>
                  <a:pt x="4007991" y="0"/>
                </a:lnTo>
                <a:lnTo>
                  <a:pt x="4007991" y="3041063"/>
                </a:lnTo>
                <a:lnTo>
                  <a:pt x="0" y="304106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TextBox 14" id="14"/>
          <p:cNvSpPr txBox="true"/>
          <p:nvPr/>
        </p:nvSpPr>
        <p:spPr>
          <a:xfrm rot="0">
            <a:off x="4692081" y="2992683"/>
            <a:ext cx="9054745" cy="4759485"/>
          </a:xfrm>
          <a:prstGeom prst="rect">
            <a:avLst/>
          </a:prstGeom>
        </p:spPr>
        <p:txBody>
          <a:bodyPr anchor="t" rtlCol="false" tIns="0" lIns="0" bIns="0" rIns="0">
            <a:spAutoFit/>
          </a:bodyPr>
          <a:lstStyle/>
          <a:p>
            <a:pPr algn="ctr">
              <a:lnSpc>
                <a:spcPts val="15866"/>
              </a:lnSpc>
            </a:pPr>
            <a:r>
              <a:rPr lang="en-US" sz="18888" spc="-1133">
                <a:solidFill>
                  <a:srgbClr val="0B4E7C"/>
                </a:solidFill>
                <a:latin typeface="Rustic Printed"/>
                <a:ea typeface="Rustic Printed"/>
                <a:cs typeface="Rustic Printed"/>
                <a:sym typeface="Rustic Printed"/>
              </a:rPr>
              <a:t>AUTO</a:t>
            </a:r>
          </a:p>
          <a:p>
            <a:pPr algn="ctr" marL="0" indent="0" lvl="0">
              <a:lnSpc>
                <a:spcPts val="15866"/>
              </a:lnSpc>
            </a:pPr>
            <a:r>
              <a:rPr lang="en-US" sz="18888" spc="-1133">
                <a:solidFill>
                  <a:srgbClr val="0B4E7C"/>
                </a:solidFill>
                <a:latin typeface="Rustic Printed"/>
                <a:ea typeface="Rustic Printed"/>
                <a:cs typeface="Rustic Printed"/>
                <a:sym typeface="Rustic Printed"/>
              </a:rPr>
              <a:t>VISION</a:t>
            </a:r>
          </a:p>
        </p:txBody>
      </p:sp>
      <p:sp>
        <p:nvSpPr>
          <p:cNvPr name="Freeform 15" id="15"/>
          <p:cNvSpPr/>
          <p:nvPr/>
        </p:nvSpPr>
        <p:spPr>
          <a:xfrm flipH="false" flipV="false" rot="4142913">
            <a:off x="12361563" y="2621106"/>
            <a:ext cx="2770524" cy="1664799"/>
          </a:xfrm>
          <a:custGeom>
            <a:avLst/>
            <a:gdLst/>
            <a:ahLst/>
            <a:cxnLst/>
            <a:rect r="r" b="b" t="t" l="l"/>
            <a:pathLst>
              <a:path h="1664799" w="2770524">
                <a:moveTo>
                  <a:pt x="0" y="0"/>
                </a:moveTo>
                <a:lnTo>
                  <a:pt x="2770525" y="0"/>
                </a:lnTo>
                <a:lnTo>
                  <a:pt x="2770525" y="1664799"/>
                </a:lnTo>
                <a:lnTo>
                  <a:pt x="0" y="166479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6" id="16"/>
          <p:cNvSpPr/>
          <p:nvPr/>
        </p:nvSpPr>
        <p:spPr>
          <a:xfrm flipH="false" flipV="false" rot="-6823717">
            <a:off x="2885331" y="6085992"/>
            <a:ext cx="2770524" cy="1664799"/>
          </a:xfrm>
          <a:custGeom>
            <a:avLst/>
            <a:gdLst/>
            <a:ahLst/>
            <a:cxnLst/>
            <a:rect r="r" b="b" t="t" l="l"/>
            <a:pathLst>
              <a:path h="1664799" w="2770524">
                <a:moveTo>
                  <a:pt x="0" y="0"/>
                </a:moveTo>
                <a:lnTo>
                  <a:pt x="2770524" y="0"/>
                </a:lnTo>
                <a:lnTo>
                  <a:pt x="2770524" y="1664799"/>
                </a:lnTo>
                <a:lnTo>
                  <a:pt x="0" y="166479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7" id="17"/>
          <p:cNvSpPr/>
          <p:nvPr/>
        </p:nvSpPr>
        <p:spPr>
          <a:xfrm flipH="true" flipV="false" rot="0">
            <a:off x="4270593" y="2612842"/>
            <a:ext cx="1467459" cy="1581362"/>
          </a:xfrm>
          <a:custGeom>
            <a:avLst/>
            <a:gdLst/>
            <a:ahLst/>
            <a:cxnLst/>
            <a:rect r="r" b="b" t="t" l="l"/>
            <a:pathLst>
              <a:path h="1581362" w="1467459">
                <a:moveTo>
                  <a:pt x="1467459" y="0"/>
                </a:moveTo>
                <a:lnTo>
                  <a:pt x="0" y="0"/>
                </a:lnTo>
                <a:lnTo>
                  <a:pt x="0" y="1581362"/>
                </a:lnTo>
                <a:lnTo>
                  <a:pt x="1467459" y="1581362"/>
                </a:lnTo>
                <a:lnTo>
                  <a:pt x="1467459"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8" id="18"/>
          <p:cNvSpPr/>
          <p:nvPr/>
        </p:nvSpPr>
        <p:spPr>
          <a:xfrm flipH="false" flipV="false" rot="0">
            <a:off x="13026394" y="6430583"/>
            <a:ext cx="1140143" cy="1228640"/>
          </a:xfrm>
          <a:custGeom>
            <a:avLst/>
            <a:gdLst/>
            <a:ahLst/>
            <a:cxnLst/>
            <a:rect r="r" b="b" t="t" l="l"/>
            <a:pathLst>
              <a:path h="1228640" w="1140143">
                <a:moveTo>
                  <a:pt x="0" y="0"/>
                </a:moveTo>
                <a:lnTo>
                  <a:pt x="1140143" y="0"/>
                </a:lnTo>
                <a:lnTo>
                  <a:pt x="1140143" y="1228640"/>
                </a:lnTo>
                <a:lnTo>
                  <a:pt x="0" y="122864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1504950" y="1763005"/>
            <a:ext cx="8435223" cy="1571627"/>
          </a:xfrm>
          <a:prstGeom prst="rect">
            <a:avLst/>
          </a:prstGeom>
        </p:spPr>
        <p:txBody>
          <a:bodyPr anchor="t" rtlCol="false" tIns="0" lIns="0" bIns="0" rIns="0">
            <a:spAutoFit/>
          </a:bodyPr>
          <a:lstStyle/>
          <a:p>
            <a:pPr algn="l" marL="0" indent="0" lvl="0">
              <a:lnSpc>
                <a:spcPts val="9600"/>
              </a:lnSpc>
            </a:pPr>
            <a:r>
              <a:rPr lang="en-US" sz="10000" spc="-600">
                <a:solidFill>
                  <a:srgbClr val="0B4E7C"/>
                </a:solidFill>
                <a:latin typeface="Rustic Printed"/>
                <a:ea typeface="Rustic Printed"/>
                <a:cs typeface="Rustic Printed"/>
                <a:sym typeface="Rustic Printed"/>
              </a:rPr>
              <a:t>OUR TEAM</a:t>
            </a:r>
          </a:p>
        </p:txBody>
      </p:sp>
      <p:sp>
        <p:nvSpPr>
          <p:cNvPr name="Freeform 4" id="4"/>
          <p:cNvSpPr/>
          <p:nvPr/>
        </p:nvSpPr>
        <p:spPr>
          <a:xfrm flipH="false" flipV="false" rot="0">
            <a:off x="12605251" y="2968790"/>
            <a:ext cx="4654049" cy="4349421"/>
          </a:xfrm>
          <a:custGeom>
            <a:avLst/>
            <a:gdLst/>
            <a:ahLst/>
            <a:cxnLst/>
            <a:rect r="r" b="b" t="t" l="l"/>
            <a:pathLst>
              <a:path h="4349421" w="4654049">
                <a:moveTo>
                  <a:pt x="0" y="0"/>
                </a:moveTo>
                <a:lnTo>
                  <a:pt x="4654049" y="0"/>
                </a:lnTo>
                <a:lnTo>
                  <a:pt x="4654049" y="4349420"/>
                </a:lnTo>
                <a:lnTo>
                  <a:pt x="0" y="43494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553540" y="3491476"/>
            <a:ext cx="5386633" cy="895350"/>
          </a:xfrm>
          <a:prstGeom prst="rect">
            <a:avLst/>
          </a:prstGeom>
        </p:spPr>
        <p:txBody>
          <a:bodyPr anchor="t" rtlCol="false" tIns="0" lIns="0" bIns="0" rIns="0">
            <a:spAutoFit/>
          </a:bodyPr>
          <a:lstStyle/>
          <a:p>
            <a:pPr algn="ctr">
              <a:lnSpc>
                <a:spcPts val="6299"/>
              </a:lnSpc>
              <a:spcBef>
                <a:spcPct val="0"/>
              </a:spcBef>
            </a:pPr>
            <a:r>
              <a:rPr lang="en-US" sz="4500" spc="-270">
                <a:solidFill>
                  <a:srgbClr val="0B4E7C"/>
                </a:solidFill>
                <a:latin typeface="Rustic Printed"/>
                <a:ea typeface="Rustic Printed"/>
                <a:cs typeface="Rustic Printed"/>
                <a:sym typeface="Rustic Printed"/>
              </a:rPr>
              <a:t>MOHAMED EL-SAYED</a:t>
            </a:r>
          </a:p>
        </p:txBody>
      </p:sp>
      <p:sp>
        <p:nvSpPr>
          <p:cNvPr name="TextBox 6" id="6"/>
          <p:cNvSpPr txBox="true"/>
          <p:nvPr/>
        </p:nvSpPr>
        <p:spPr>
          <a:xfrm rot="0">
            <a:off x="8503408" y="5638800"/>
            <a:ext cx="3134171" cy="895350"/>
          </a:xfrm>
          <a:prstGeom prst="rect">
            <a:avLst/>
          </a:prstGeom>
        </p:spPr>
        <p:txBody>
          <a:bodyPr anchor="t" rtlCol="false" tIns="0" lIns="0" bIns="0" rIns="0">
            <a:spAutoFit/>
          </a:bodyPr>
          <a:lstStyle/>
          <a:p>
            <a:pPr algn="ctr">
              <a:lnSpc>
                <a:spcPts val="6299"/>
              </a:lnSpc>
              <a:spcBef>
                <a:spcPct val="0"/>
              </a:spcBef>
            </a:pPr>
            <a:r>
              <a:rPr lang="en-US" sz="4500" spc="-270">
                <a:solidFill>
                  <a:srgbClr val="0B4E7C"/>
                </a:solidFill>
                <a:latin typeface="Rustic Printed"/>
                <a:ea typeface="Rustic Printed"/>
                <a:cs typeface="Rustic Printed"/>
                <a:sym typeface="Rustic Printed"/>
              </a:rPr>
              <a:t>KHALED IBRAHIM</a:t>
            </a:r>
          </a:p>
        </p:txBody>
      </p:sp>
      <p:sp>
        <p:nvSpPr>
          <p:cNvPr name="TextBox 7" id="7"/>
          <p:cNvSpPr txBox="true"/>
          <p:nvPr/>
        </p:nvSpPr>
        <p:spPr>
          <a:xfrm rot="0">
            <a:off x="2902143" y="4591050"/>
            <a:ext cx="2788444" cy="895350"/>
          </a:xfrm>
          <a:prstGeom prst="rect">
            <a:avLst/>
          </a:prstGeom>
        </p:spPr>
        <p:txBody>
          <a:bodyPr anchor="t" rtlCol="false" tIns="0" lIns="0" bIns="0" rIns="0">
            <a:spAutoFit/>
          </a:bodyPr>
          <a:lstStyle/>
          <a:p>
            <a:pPr algn="ctr">
              <a:lnSpc>
                <a:spcPts val="6299"/>
              </a:lnSpc>
              <a:spcBef>
                <a:spcPct val="0"/>
              </a:spcBef>
            </a:pPr>
            <a:r>
              <a:rPr lang="en-US" sz="4500" spc="-270">
                <a:solidFill>
                  <a:srgbClr val="0B4E7C"/>
                </a:solidFill>
                <a:latin typeface="Rustic Printed"/>
                <a:ea typeface="Rustic Printed"/>
                <a:cs typeface="Rustic Printed"/>
                <a:sym typeface="Rustic Printed"/>
              </a:rPr>
              <a:t>OMAR ELAZAZY</a:t>
            </a:r>
          </a:p>
        </p:txBody>
      </p:sp>
      <p:sp>
        <p:nvSpPr>
          <p:cNvPr name="TextBox 8" id="8"/>
          <p:cNvSpPr txBox="true"/>
          <p:nvPr/>
        </p:nvSpPr>
        <p:spPr>
          <a:xfrm rot="0">
            <a:off x="2964725" y="5686425"/>
            <a:ext cx="2920454" cy="895350"/>
          </a:xfrm>
          <a:prstGeom prst="rect">
            <a:avLst/>
          </a:prstGeom>
        </p:spPr>
        <p:txBody>
          <a:bodyPr anchor="t" rtlCol="false" tIns="0" lIns="0" bIns="0" rIns="0">
            <a:spAutoFit/>
          </a:bodyPr>
          <a:lstStyle/>
          <a:p>
            <a:pPr algn="ctr">
              <a:lnSpc>
                <a:spcPts val="6299"/>
              </a:lnSpc>
              <a:spcBef>
                <a:spcPct val="0"/>
              </a:spcBef>
            </a:pPr>
            <a:r>
              <a:rPr lang="en-US" sz="4500" spc="-270">
                <a:solidFill>
                  <a:srgbClr val="0B4E7C"/>
                </a:solidFill>
                <a:latin typeface="Rustic Printed"/>
                <a:ea typeface="Rustic Printed"/>
                <a:cs typeface="Rustic Printed"/>
                <a:sym typeface="Rustic Printed"/>
              </a:rPr>
              <a:t>SHADY HOSSAM</a:t>
            </a:r>
          </a:p>
        </p:txBody>
      </p:sp>
      <p:sp>
        <p:nvSpPr>
          <p:cNvPr name="TextBox 9" id="9"/>
          <p:cNvSpPr txBox="true"/>
          <p:nvPr/>
        </p:nvSpPr>
        <p:spPr>
          <a:xfrm rot="0">
            <a:off x="2964717" y="6734175"/>
            <a:ext cx="2531269" cy="895350"/>
          </a:xfrm>
          <a:prstGeom prst="rect">
            <a:avLst/>
          </a:prstGeom>
        </p:spPr>
        <p:txBody>
          <a:bodyPr anchor="t" rtlCol="false" tIns="0" lIns="0" bIns="0" rIns="0">
            <a:spAutoFit/>
          </a:bodyPr>
          <a:lstStyle/>
          <a:p>
            <a:pPr algn="ctr">
              <a:lnSpc>
                <a:spcPts val="6299"/>
              </a:lnSpc>
              <a:spcBef>
                <a:spcPct val="0"/>
              </a:spcBef>
            </a:pPr>
            <a:r>
              <a:rPr lang="en-US" sz="4500" spc="-270">
                <a:solidFill>
                  <a:srgbClr val="0B4E7C"/>
                </a:solidFill>
                <a:latin typeface="Rustic Printed"/>
                <a:ea typeface="Rustic Printed"/>
                <a:cs typeface="Rustic Printed"/>
                <a:sym typeface="Rustic Printed"/>
              </a:rPr>
              <a:t>YOUSSIF RAGI</a:t>
            </a:r>
          </a:p>
        </p:txBody>
      </p:sp>
      <p:sp>
        <p:nvSpPr>
          <p:cNvPr name="TextBox 10" id="10"/>
          <p:cNvSpPr txBox="true"/>
          <p:nvPr/>
        </p:nvSpPr>
        <p:spPr>
          <a:xfrm rot="0">
            <a:off x="8503438" y="4591050"/>
            <a:ext cx="2368302" cy="895350"/>
          </a:xfrm>
          <a:prstGeom prst="rect">
            <a:avLst/>
          </a:prstGeom>
        </p:spPr>
        <p:txBody>
          <a:bodyPr anchor="t" rtlCol="false" tIns="0" lIns="0" bIns="0" rIns="0">
            <a:spAutoFit/>
          </a:bodyPr>
          <a:lstStyle/>
          <a:p>
            <a:pPr algn="ctr">
              <a:lnSpc>
                <a:spcPts val="6299"/>
              </a:lnSpc>
              <a:spcBef>
                <a:spcPct val="0"/>
              </a:spcBef>
            </a:pPr>
            <a:r>
              <a:rPr lang="en-US" sz="4500" spc="-270">
                <a:solidFill>
                  <a:srgbClr val="0B4E7C"/>
                </a:solidFill>
                <a:latin typeface="Rustic Printed"/>
                <a:ea typeface="Rustic Printed"/>
                <a:cs typeface="Rustic Printed"/>
                <a:sym typeface="Rustic Printed"/>
              </a:rPr>
              <a:t>AYMAN EHAB</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solidFill>
              <a:srgbClr val="155C94"/>
            </a:solidFill>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5413582" y="3140502"/>
            <a:ext cx="7878156" cy="1571627"/>
          </a:xfrm>
          <a:prstGeom prst="rect">
            <a:avLst/>
          </a:prstGeom>
        </p:spPr>
        <p:txBody>
          <a:bodyPr anchor="t" rtlCol="false" tIns="0" lIns="0" bIns="0" rIns="0">
            <a:spAutoFit/>
          </a:bodyPr>
          <a:lstStyle/>
          <a:p>
            <a:pPr algn="ctr" marL="0" indent="0" lvl="0">
              <a:lnSpc>
                <a:spcPts val="9600"/>
              </a:lnSpc>
            </a:pPr>
            <a:r>
              <a:rPr lang="en-US" sz="10000" spc="-600">
                <a:solidFill>
                  <a:srgbClr val="FFFFFF"/>
                </a:solidFill>
                <a:latin typeface="Rustic Printed"/>
                <a:ea typeface="Rustic Printed"/>
                <a:cs typeface="Rustic Printed"/>
                <a:sym typeface="Rustic Printed"/>
              </a:rPr>
              <a:t>PROJECT IDEA</a:t>
            </a:r>
          </a:p>
        </p:txBody>
      </p:sp>
      <p:sp>
        <p:nvSpPr>
          <p:cNvPr name="TextBox 7" id="7"/>
          <p:cNvSpPr txBox="true"/>
          <p:nvPr/>
        </p:nvSpPr>
        <p:spPr>
          <a:xfrm rot="0">
            <a:off x="4065867" y="5095875"/>
            <a:ext cx="10156267" cy="2188845"/>
          </a:xfrm>
          <a:prstGeom prst="rect">
            <a:avLst/>
          </a:prstGeom>
        </p:spPr>
        <p:txBody>
          <a:bodyPr anchor="t" rtlCol="false" tIns="0" lIns="0" bIns="0" rIns="0">
            <a:spAutoFit/>
          </a:bodyPr>
          <a:lstStyle/>
          <a:p>
            <a:pPr algn="ctr" marL="0" indent="0" lvl="0">
              <a:lnSpc>
                <a:spcPts val="3509"/>
              </a:lnSpc>
              <a:spcBef>
                <a:spcPct val="0"/>
              </a:spcBef>
            </a:pPr>
            <a:r>
              <a:rPr lang="en-US" b="true" sz="2599" spc="155">
                <a:solidFill>
                  <a:srgbClr val="FFFFFF"/>
                </a:solidFill>
                <a:latin typeface="Canva Sans Medium"/>
                <a:ea typeface="Canva Sans Medium"/>
                <a:cs typeface="Canva Sans Medium"/>
                <a:sym typeface="Canva Sans Medium"/>
              </a:rPr>
              <a:t>Aut</a:t>
            </a:r>
            <a:r>
              <a:rPr lang="en-US" b="true" sz="2599" spc="155" u="none">
                <a:solidFill>
                  <a:srgbClr val="FFFFFF"/>
                </a:solidFill>
                <a:latin typeface="Canva Sans Medium"/>
                <a:ea typeface="Canva Sans Medium"/>
                <a:cs typeface="Canva Sans Medium"/>
                <a:sym typeface="Canva Sans Medium"/>
              </a:rPr>
              <a:t>oVision :is a data analysis project focused on car sales, pricing, and models. The aim is to clean and analyze the dataset, uncover patterns and trends, build forecasting models, and create an interactive dashboard to support decision-making for car dealerships.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solidFill>
              <a:srgbClr val="155C94"/>
            </a:solidFill>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5204922" y="2909117"/>
            <a:ext cx="7878156" cy="1571627"/>
          </a:xfrm>
          <a:prstGeom prst="rect">
            <a:avLst/>
          </a:prstGeom>
        </p:spPr>
        <p:txBody>
          <a:bodyPr anchor="t" rtlCol="false" tIns="0" lIns="0" bIns="0" rIns="0">
            <a:spAutoFit/>
          </a:bodyPr>
          <a:lstStyle/>
          <a:p>
            <a:pPr algn="ctr" marL="0" indent="0" lvl="0">
              <a:lnSpc>
                <a:spcPts val="9600"/>
              </a:lnSpc>
            </a:pPr>
            <a:r>
              <a:rPr lang="en-US" sz="10000" spc="-600">
                <a:solidFill>
                  <a:srgbClr val="FFFFFF"/>
                </a:solidFill>
                <a:latin typeface="Rustic Printed"/>
                <a:ea typeface="Rustic Printed"/>
                <a:cs typeface="Rustic Printed"/>
                <a:sym typeface="Rustic Printed"/>
              </a:rPr>
              <a:t>DATASET</a:t>
            </a:r>
          </a:p>
        </p:txBody>
      </p:sp>
      <p:sp>
        <p:nvSpPr>
          <p:cNvPr name="TextBox 7" id="7"/>
          <p:cNvSpPr txBox="true"/>
          <p:nvPr/>
        </p:nvSpPr>
        <p:spPr>
          <a:xfrm rot="0">
            <a:off x="2564050" y="5076825"/>
            <a:ext cx="13159901" cy="1541146"/>
          </a:xfrm>
          <a:prstGeom prst="rect">
            <a:avLst/>
          </a:prstGeom>
        </p:spPr>
        <p:txBody>
          <a:bodyPr anchor="t" rtlCol="false" tIns="0" lIns="0" bIns="0" rIns="0">
            <a:spAutoFit/>
          </a:bodyPr>
          <a:lstStyle/>
          <a:p>
            <a:pPr algn="ctr">
              <a:lnSpc>
                <a:spcPts val="6209"/>
              </a:lnSpc>
            </a:pPr>
            <a:r>
              <a:rPr lang="en-US" b="true" sz="4599" spc="275">
                <a:solidFill>
                  <a:srgbClr val="FFFFFF"/>
                </a:solidFill>
                <a:latin typeface="Canva Sans Medium"/>
                <a:ea typeface="Canva Sans Medium"/>
                <a:cs typeface="Canva Sans Medium"/>
                <a:sym typeface="Canva Sans Medium"/>
              </a:rPr>
              <a:t>this dataset has 9 coulmns</a:t>
            </a:r>
          </a:p>
          <a:p>
            <a:pPr algn="ctr" marL="0" indent="0" lvl="0">
              <a:lnSpc>
                <a:spcPts val="6209"/>
              </a:lnSpc>
              <a:spcBef>
                <a:spcPct val="0"/>
              </a:spcBef>
            </a:pPr>
            <a:r>
              <a:rPr lang="en-US" b="true" sz="4599" spc="275">
                <a:solidFill>
                  <a:srgbClr val="FFFFFF"/>
                </a:solidFill>
                <a:latin typeface="Canva Sans Medium"/>
                <a:ea typeface="Canva Sans Medium"/>
                <a:cs typeface="Canva Sans Medium"/>
                <a:sym typeface="Canva Sans Medium"/>
              </a:rPr>
              <a:t> and 4345 Row</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aphicFrame>
        <p:nvGraphicFramePr>
          <p:cNvPr name="Table 3" id="3"/>
          <p:cNvGraphicFramePr>
            <a:graphicFrameLocks noGrp="true"/>
          </p:cNvGraphicFramePr>
          <p:nvPr/>
        </p:nvGraphicFramePr>
        <p:xfrm>
          <a:off x="5294167" y="2045491"/>
          <a:ext cx="8300392" cy="7212809"/>
        </p:xfrm>
        <a:graphic>
          <a:graphicData uri="http://schemas.openxmlformats.org/drawingml/2006/table">
            <a:tbl>
              <a:tblPr/>
              <a:tblGrid>
                <a:gridCol w="4150196"/>
                <a:gridCol w="4150196"/>
              </a:tblGrid>
              <a:tr h="1151896">
                <a:tc>
                  <a:txBody>
                    <a:bodyPr anchor="t" rtlCol="false"/>
                    <a:lstStyle/>
                    <a:p>
                      <a:pPr algn="ctr">
                        <a:lnSpc>
                          <a:spcPts val="2799"/>
                        </a:lnSpc>
                        <a:defRPr/>
                      </a:pPr>
                      <a:r>
                        <a:rPr lang="en-US" sz="1999" b="true">
                          <a:solidFill>
                            <a:srgbClr val="000000"/>
                          </a:solidFill>
                          <a:latin typeface="Open Sans Bold"/>
                          <a:ea typeface="Open Sans Bold"/>
                          <a:cs typeface="Open Sans Bold"/>
                          <a:sym typeface="Open Sans Bold"/>
                        </a:rPr>
                        <a:t>column name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2612">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Brand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Car manufacturer/brand name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51896">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Body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Type of car body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51896">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Engine Type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Type of engine fuel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2612">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Registration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Indicates if the car is registered (yes/no)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51896">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Model name of the car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503758" y="-47625"/>
            <a:ext cx="15280484" cy="1417320"/>
          </a:xfrm>
          <a:prstGeom prst="rect">
            <a:avLst/>
          </a:prstGeom>
        </p:spPr>
        <p:txBody>
          <a:bodyPr anchor="t" rtlCol="false" tIns="0" lIns="0" bIns="0" rIns="0">
            <a:spAutoFit/>
          </a:bodyPr>
          <a:lstStyle/>
          <a:p>
            <a:pPr algn="ctr" marL="0" indent="0" lvl="0">
              <a:lnSpc>
                <a:spcPts val="8640"/>
              </a:lnSpc>
              <a:spcBef>
                <a:spcPct val="0"/>
              </a:spcBef>
            </a:pPr>
            <a:r>
              <a:rPr lang="en-US" sz="9000" spc="-540">
                <a:solidFill>
                  <a:srgbClr val="0B4E7C"/>
                </a:solidFill>
                <a:latin typeface="Rustic Printed"/>
                <a:ea typeface="Rustic Printed"/>
                <a:cs typeface="Rustic Printed"/>
                <a:sym typeface="Rustic Printed"/>
              </a:rPr>
              <a:t>TEXT COLUMNS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aphicFrame>
        <p:nvGraphicFramePr>
          <p:cNvPr name="Table 3" id="3"/>
          <p:cNvGraphicFramePr>
            <a:graphicFrameLocks noGrp="true"/>
          </p:cNvGraphicFramePr>
          <p:nvPr/>
        </p:nvGraphicFramePr>
        <p:xfrm>
          <a:off x="4957760" y="2333621"/>
          <a:ext cx="8901119" cy="6924679"/>
        </p:xfrm>
        <a:graphic>
          <a:graphicData uri="http://schemas.openxmlformats.org/drawingml/2006/table">
            <a:tbl>
              <a:tblPr/>
              <a:tblGrid>
                <a:gridCol w="4450559"/>
                <a:gridCol w="4450559"/>
              </a:tblGrid>
              <a:tr h="1210687">
                <a:tc>
                  <a:txBody>
                    <a:bodyPr anchor="t" rtlCol="false"/>
                    <a:lstStyle/>
                    <a:p>
                      <a:pPr algn="ctr">
                        <a:lnSpc>
                          <a:spcPts val="2799"/>
                        </a:lnSpc>
                        <a:defRPr/>
                      </a:pPr>
                      <a:r>
                        <a:rPr lang="en-US" sz="1999" b="true">
                          <a:solidFill>
                            <a:srgbClr val="000000"/>
                          </a:solidFill>
                          <a:latin typeface="Open Sans Bold"/>
                          <a:ea typeface="Open Sans Bold"/>
                          <a:cs typeface="Open Sans Bold"/>
                          <a:sym typeface="Open Sans Bold"/>
                        </a:rPr>
                        <a:t>column name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69095">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Price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Selling price of the car (in USD)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69095">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Mileage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Mileage driven by the car (in thousands of kilometers)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765114">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EngineV</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Engine volume/displacement in liters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10687">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Year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Year of car production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503758" y="-47625"/>
            <a:ext cx="15280484" cy="1417320"/>
          </a:xfrm>
          <a:prstGeom prst="rect">
            <a:avLst/>
          </a:prstGeom>
        </p:spPr>
        <p:txBody>
          <a:bodyPr anchor="t" rtlCol="false" tIns="0" lIns="0" bIns="0" rIns="0">
            <a:spAutoFit/>
          </a:bodyPr>
          <a:lstStyle/>
          <a:p>
            <a:pPr algn="ctr" marL="0" indent="0" lvl="0">
              <a:lnSpc>
                <a:spcPts val="8640"/>
              </a:lnSpc>
              <a:spcBef>
                <a:spcPct val="0"/>
              </a:spcBef>
            </a:pPr>
            <a:r>
              <a:rPr lang="en-US" sz="9000" spc="-540">
                <a:solidFill>
                  <a:srgbClr val="0B4E7C"/>
                </a:solidFill>
                <a:latin typeface="Rustic Printed"/>
                <a:ea typeface="Rustic Printed"/>
                <a:cs typeface="Rustic Printed"/>
                <a:sym typeface="Rustic Printed"/>
              </a:rPr>
              <a:t>NUMERIC COLUMNS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aphicFrame>
        <p:nvGraphicFramePr>
          <p:cNvPr name="Table 3" id="3"/>
          <p:cNvGraphicFramePr>
            <a:graphicFrameLocks noGrp="true"/>
          </p:cNvGraphicFramePr>
          <p:nvPr/>
        </p:nvGraphicFramePr>
        <p:xfrm>
          <a:off x="2057170" y="1629306"/>
          <a:ext cx="14173660" cy="8176107"/>
        </p:xfrm>
        <a:graphic>
          <a:graphicData uri="http://schemas.openxmlformats.org/drawingml/2006/table">
            <a:tbl>
              <a:tblPr/>
              <a:tblGrid>
                <a:gridCol w="2804428"/>
                <a:gridCol w="2865036"/>
                <a:gridCol w="2834732"/>
                <a:gridCol w="2834732"/>
                <a:gridCol w="2834732"/>
              </a:tblGrid>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Column no.</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Column Name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of Rows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Type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1</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Brand</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4345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Price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4173</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E61212"/>
                          </a:solidFill>
                          <a:latin typeface="Open Sans"/>
                          <a:ea typeface="Open Sans"/>
                          <a:cs typeface="Open Sans"/>
                          <a:sym typeface="Open Sans"/>
                        </a:rPr>
                        <a:t>172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float 64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3</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Body</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4345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Mileage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4345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int 64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EngineV</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4345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E61212"/>
                          </a:solidFill>
                          <a:latin typeface="Open Sans"/>
                          <a:ea typeface="Open Sans"/>
                          <a:cs typeface="Open Sans"/>
                          <a:sym typeface="Open Sans"/>
                        </a:rPr>
                        <a:t>150</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float 64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6</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Engine Type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4345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11790">
                <a:tc>
                  <a:txBody>
                    <a:bodyPr anchor="t" rtlCol="false"/>
                    <a:lstStyle/>
                    <a:p>
                      <a:pPr algn="ctr">
                        <a:lnSpc>
                          <a:spcPts val="2380"/>
                        </a:lnSpc>
                        <a:defRPr/>
                      </a:pPr>
                      <a:r>
                        <a:rPr lang="en-US" sz="1700">
                          <a:solidFill>
                            <a:srgbClr val="000000"/>
                          </a:solidFill>
                          <a:latin typeface="Open Sans"/>
                          <a:ea typeface="Open Sans"/>
                          <a:cs typeface="Open Sans"/>
                          <a:sym typeface="Open Sans"/>
                        </a:rPr>
                        <a:t>7</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Registration</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4345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11790">
                <a:tc>
                  <a:txBody>
                    <a:bodyPr anchor="t" rtlCol="false"/>
                    <a:lstStyle/>
                    <a:p>
                      <a:pPr algn="ctr">
                        <a:lnSpc>
                          <a:spcPts val="2380"/>
                        </a:lnSpc>
                        <a:defRPr/>
                      </a:pPr>
                      <a:r>
                        <a:rPr lang="en-US" sz="1700">
                          <a:solidFill>
                            <a:srgbClr val="000000"/>
                          </a:solidFill>
                          <a:latin typeface="Open Sans"/>
                          <a:ea typeface="Open Sans"/>
                          <a:cs typeface="Open Sans"/>
                          <a:sym typeface="Open Sans"/>
                        </a:rPr>
                        <a:t>8</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Year</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4345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int 64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11790">
                <a:tc>
                  <a:txBody>
                    <a:bodyPr anchor="t" rtlCol="false"/>
                    <a:lstStyle/>
                    <a:p>
                      <a:pPr algn="ctr">
                        <a:lnSpc>
                          <a:spcPts val="2380"/>
                        </a:lnSpc>
                        <a:defRPr/>
                      </a:pPr>
                      <a:r>
                        <a:rPr lang="en-US" sz="1700">
                          <a:solidFill>
                            <a:srgbClr val="000000"/>
                          </a:solidFill>
                          <a:latin typeface="Open Sans"/>
                          <a:ea typeface="Open Sans"/>
                          <a:cs typeface="Open Sans"/>
                          <a:sym typeface="Open Sans"/>
                        </a:rPr>
                        <a:t>9</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Model</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4345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bl>
          </a:graphicData>
        </a:graphic>
      </p:graphicFrame>
      <p:sp>
        <p:nvSpPr>
          <p:cNvPr name="TextBox 4" id="4"/>
          <p:cNvSpPr txBox="true"/>
          <p:nvPr/>
        </p:nvSpPr>
        <p:spPr>
          <a:xfrm rot="0">
            <a:off x="1503758" y="-47625"/>
            <a:ext cx="15280484" cy="1417320"/>
          </a:xfrm>
          <a:prstGeom prst="rect">
            <a:avLst/>
          </a:prstGeom>
        </p:spPr>
        <p:txBody>
          <a:bodyPr anchor="t" rtlCol="false" tIns="0" lIns="0" bIns="0" rIns="0">
            <a:spAutoFit/>
          </a:bodyPr>
          <a:lstStyle/>
          <a:p>
            <a:pPr algn="ctr" marL="0" indent="0" lvl="0">
              <a:lnSpc>
                <a:spcPts val="8640"/>
              </a:lnSpc>
              <a:spcBef>
                <a:spcPct val="0"/>
              </a:spcBef>
            </a:pPr>
            <a:r>
              <a:rPr lang="en-US" sz="9000" spc="-540">
                <a:solidFill>
                  <a:srgbClr val="0B4E7C"/>
                </a:solidFill>
                <a:latin typeface="Rustic Printed"/>
                <a:ea typeface="Rustic Printed"/>
                <a:cs typeface="Rustic Printed"/>
                <a:sym typeface="Rustic Printed"/>
              </a:rPr>
              <a:t>DATASET INFO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1503758" y="-47625"/>
            <a:ext cx="15280484" cy="1417320"/>
          </a:xfrm>
          <a:prstGeom prst="rect">
            <a:avLst/>
          </a:prstGeom>
        </p:spPr>
        <p:txBody>
          <a:bodyPr anchor="t" rtlCol="false" tIns="0" lIns="0" bIns="0" rIns="0">
            <a:spAutoFit/>
          </a:bodyPr>
          <a:lstStyle/>
          <a:p>
            <a:pPr algn="ctr" marL="0" indent="0" lvl="0">
              <a:lnSpc>
                <a:spcPts val="8640"/>
              </a:lnSpc>
              <a:spcBef>
                <a:spcPct val="0"/>
              </a:spcBef>
            </a:pPr>
            <a:r>
              <a:rPr lang="en-US" sz="9000" spc="-540">
                <a:solidFill>
                  <a:srgbClr val="0B4E7C"/>
                </a:solidFill>
                <a:latin typeface="Rustic Printed"/>
                <a:ea typeface="Rustic Printed"/>
                <a:cs typeface="Rustic Printed"/>
                <a:sym typeface="Rustic Printed"/>
              </a:rPr>
              <a:t>DATA SET DESCRIPTION</a:t>
            </a:r>
          </a:p>
        </p:txBody>
      </p:sp>
      <p:graphicFrame>
        <p:nvGraphicFramePr>
          <p:cNvPr name="Object 4" id="4"/>
          <p:cNvGraphicFramePr/>
          <p:nvPr/>
        </p:nvGraphicFramePr>
        <p:xfrm>
          <a:off x="2448788" y="1855506"/>
          <a:ext cx="6286500" cy="3771900"/>
        </p:xfrm>
        <a:graphic>
          <a:graphicData uri="http://schemas.openxmlformats.org/presentationml/2006/ole">
            <p:oleObj imgW="7543800" imgH="5029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1503758" y="-47625"/>
            <a:ext cx="15280484" cy="1417320"/>
          </a:xfrm>
          <a:prstGeom prst="rect">
            <a:avLst/>
          </a:prstGeom>
        </p:spPr>
        <p:txBody>
          <a:bodyPr anchor="t" rtlCol="false" tIns="0" lIns="0" bIns="0" rIns="0">
            <a:spAutoFit/>
          </a:bodyPr>
          <a:lstStyle/>
          <a:p>
            <a:pPr algn="ctr" marL="0" indent="0" lvl="0">
              <a:lnSpc>
                <a:spcPts val="8640"/>
              </a:lnSpc>
              <a:spcBef>
                <a:spcPct val="0"/>
              </a:spcBef>
            </a:pPr>
            <a:r>
              <a:rPr lang="en-US" sz="9000" spc="-540">
                <a:solidFill>
                  <a:srgbClr val="0B4E7C"/>
                </a:solidFill>
                <a:latin typeface="Rustic Printed"/>
                <a:ea typeface="Rustic Printed"/>
                <a:cs typeface="Rustic Printed"/>
                <a:sym typeface="Rustic Printed"/>
              </a:rPr>
              <a:t>WE HAD A PROBLEM</a:t>
            </a:r>
          </a:p>
        </p:txBody>
      </p:sp>
      <p:sp>
        <p:nvSpPr>
          <p:cNvPr name="TextBox 4" id="4"/>
          <p:cNvSpPr txBox="true"/>
          <p:nvPr/>
        </p:nvSpPr>
        <p:spPr>
          <a:xfrm rot="0">
            <a:off x="1694846" y="1923090"/>
            <a:ext cx="11892707" cy="4741586"/>
          </a:xfrm>
          <a:prstGeom prst="rect">
            <a:avLst/>
          </a:prstGeom>
        </p:spPr>
        <p:txBody>
          <a:bodyPr anchor="t" rtlCol="false" tIns="0" lIns="0" bIns="0" rIns="0">
            <a:spAutoFit/>
          </a:bodyPr>
          <a:lstStyle/>
          <a:p>
            <a:pPr algn="l">
              <a:lnSpc>
                <a:spcPts val="9768"/>
              </a:lnSpc>
            </a:pPr>
            <a:r>
              <a:rPr lang="en-US" sz="6977" b="true">
                <a:solidFill>
                  <a:srgbClr val="0B4E7C"/>
                </a:solidFill>
                <a:latin typeface="Canva Sans Bold"/>
                <a:ea typeface="Canva Sans Bold"/>
                <a:cs typeface="Canva Sans Bold"/>
                <a:sym typeface="Canva Sans Bold"/>
              </a:rPr>
              <a:t>This data set has</a:t>
            </a:r>
          </a:p>
          <a:p>
            <a:pPr algn="l" marL="1439967" indent="-719983" lvl="1">
              <a:lnSpc>
                <a:spcPts val="9337"/>
              </a:lnSpc>
              <a:buFont typeface="Arial"/>
              <a:buChar char="•"/>
            </a:pPr>
            <a:r>
              <a:rPr lang="en-US" sz="6669">
                <a:solidFill>
                  <a:srgbClr val="0B4E7C"/>
                </a:solidFill>
                <a:latin typeface="Canva Sans"/>
                <a:ea typeface="Canva Sans"/>
                <a:cs typeface="Canva Sans"/>
                <a:sym typeface="Canva Sans"/>
              </a:rPr>
              <a:t> 172 null value in </a:t>
            </a:r>
            <a:r>
              <a:rPr lang="en-US" b="true" sz="6669">
                <a:solidFill>
                  <a:srgbClr val="E61212"/>
                </a:solidFill>
                <a:latin typeface="Canva Sans Bold"/>
                <a:ea typeface="Canva Sans Bold"/>
                <a:cs typeface="Canva Sans Bold"/>
                <a:sym typeface="Canva Sans Bold"/>
              </a:rPr>
              <a:t>Price</a:t>
            </a:r>
          </a:p>
          <a:p>
            <a:pPr algn="l" marL="1439967" indent="-719983" lvl="1">
              <a:lnSpc>
                <a:spcPts val="9337"/>
              </a:lnSpc>
              <a:buFont typeface="Arial"/>
              <a:buChar char="•"/>
            </a:pPr>
            <a:r>
              <a:rPr lang="en-US" sz="6669">
                <a:solidFill>
                  <a:srgbClr val="0B4E7C"/>
                </a:solidFill>
                <a:latin typeface="Canva Sans"/>
                <a:ea typeface="Canva Sans"/>
                <a:cs typeface="Canva Sans"/>
                <a:sym typeface="Canva Sans"/>
              </a:rPr>
              <a:t>150 </a:t>
            </a:r>
            <a:r>
              <a:rPr lang="en-US" sz="6669">
                <a:solidFill>
                  <a:srgbClr val="0B4E7C"/>
                </a:solidFill>
                <a:latin typeface="Canva Sans"/>
                <a:ea typeface="Canva Sans"/>
                <a:cs typeface="Canva Sans"/>
                <a:sym typeface="Canva Sans"/>
              </a:rPr>
              <a:t> null value in </a:t>
            </a:r>
            <a:r>
              <a:rPr lang="en-US" b="true" sz="6669">
                <a:solidFill>
                  <a:srgbClr val="E61212"/>
                </a:solidFill>
                <a:latin typeface="Canva Sans Bold"/>
                <a:ea typeface="Canva Sans Bold"/>
                <a:cs typeface="Canva Sans Bold"/>
                <a:sym typeface="Canva Sans Bold"/>
              </a:rPr>
              <a:t>EngineV</a:t>
            </a:r>
          </a:p>
          <a:p>
            <a:pPr algn="l" marL="1439967" indent="-719983" lvl="1">
              <a:lnSpc>
                <a:spcPts val="9337"/>
              </a:lnSpc>
              <a:buFont typeface="Arial"/>
              <a:buChar char="•"/>
            </a:pPr>
            <a:r>
              <a:rPr lang="en-US" sz="6669">
                <a:solidFill>
                  <a:srgbClr val="0B4E7C"/>
                </a:solidFill>
                <a:latin typeface="Canva Sans"/>
                <a:ea typeface="Canva Sans"/>
                <a:cs typeface="Canva Sans"/>
                <a:sym typeface="Canva Sans"/>
              </a:rPr>
              <a:t>73 duplicated </a:t>
            </a:r>
            <a:r>
              <a:rPr lang="en-US" b="true" sz="6669">
                <a:solidFill>
                  <a:srgbClr val="E61212"/>
                </a:solidFill>
                <a:latin typeface="Canva Sans Bold"/>
                <a:ea typeface="Canva Sans Bold"/>
                <a:cs typeface="Canva Sans Bold"/>
                <a:sym typeface="Canva Sans Bold"/>
              </a:rPr>
              <a:t>row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TextBox 3" id="3"/>
          <p:cNvSpPr txBox="true"/>
          <p:nvPr/>
        </p:nvSpPr>
        <p:spPr>
          <a:xfrm rot="0">
            <a:off x="1362319" y="132438"/>
            <a:ext cx="15280484" cy="1417320"/>
          </a:xfrm>
          <a:prstGeom prst="rect">
            <a:avLst/>
          </a:prstGeom>
        </p:spPr>
        <p:txBody>
          <a:bodyPr anchor="t" rtlCol="false" tIns="0" lIns="0" bIns="0" rIns="0">
            <a:spAutoFit/>
          </a:bodyPr>
          <a:lstStyle/>
          <a:p>
            <a:pPr algn="ctr" marL="0" indent="0" lvl="0">
              <a:lnSpc>
                <a:spcPts val="8640"/>
              </a:lnSpc>
              <a:spcBef>
                <a:spcPct val="0"/>
              </a:spcBef>
            </a:pPr>
            <a:r>
              <a:rPr lang="en-US" sz="9000" spc="-540">
                <a:solidFill>
                  <a:srgbClr val="0B4E7C"/>
                </a:solidFill>
                <a:latin typeface="Rustic Printed"/>
                <a:ea typeface="Rustic Printed"/>
                <a:cs typeface="Rustic Printed"/>
                <a:sym typeface="Rustic Printed"/>
              </a:rPr>
              <a:t>WHAT WE DID</a:t>
            </a:r>
          </a:p>
        </p:txBody>
      </p:sp>
      <p:sp>
        <p:nvSpPr>
          <p:cNvPr name="TextBox 4" id="4"/>
          <p:cNvSpPr txBox="true"/>
          <p:nvPr/>
        </p:nvSpPr>
        <p:spPr>
          <a:xfrm rot="0">
            <a:off x="724980" y="2776015"/>
            <a:ext cx="17563020" cy="3785578"/>
          </a:xfrm>
          <a:prstGeom prst="rect">
            <a:avLst/>
          </a:prstGeom>
        </p:spPr>
        <p:txBody>
          <a:bodyPr anchor="t" rtlCol="false" tIns="0" lIns="0" bIns="0" rIns="0">
            <a:spAutoFit/>
          </a:bodyPr>
          <a:lstStyle/>
          <a:p>
            <a:pPr algn="l">
              <a:lnSpc>
                <a:spcPts val="6071"/>
              </a:lnSpc>
            </a:pPr>
            <a:r>
              <a:rPr lang="en-US" sz="4336" b="true">
                <a:solidFill>
                  <a:srgbClr val="0B4E7C"/>
                </a:solidFill>
                <a:latin typeface="Canva Sans Bold"/>
                <a:ea typeface="Canva Sans Bold"/>
                <a:cs typeface="Canva Sans Bold"/>
                <a:sym typeface="Canva Sans Bold"/>
              </a:rPr>
              <a:t>For nulls:</a:t>
            </a:r>
          </a:p>
          <a:p>
            <a:pPr algn="l">
              <a:lnSpc>
                <a:spcPts val="6071"/>
              </a:lnSpc>
            </a:pPr>
          </a:p>
          <a:p>
            <a:pPr algn="l">
              <a:lnSpc>
                <a:spcPts val="6071"/>
              </a:lnSpc>
            </a:pPr>
            <a:r>
              <a:rPr lang="en-US" sz="4336">
                <a:solidFill>
                  <a:srgbClr val="0B4E7C"/>
                </a:solidFill>
                <a:latin typeface="Canva Sans"/>
                <a:ea typeface="Canva Sans"/>
                <a:cs typeface="Canva Sans"/>
                <a:sym typeface="Canva Sans"/>
              </a:rPr>
              <a:t> changing the 172 nulls in (Price) column and the 150 nulls in (EngineV) with mean or median.</a:t>
            </a:r>
          </a:p>
          <a:p>
            <a:pPr algn="ctr">
              <a:lnSpc>
                <a:spcPts val="6071"/>
              </a:lnSpc>
            </a:pPr>
          </a:p>
        </p:txBody>
      </p:sp>
      <p:sp>
        <p:nvSpPr>
          <p:cNvPr name="TextBox 5" id="5"/>
          <p:cNvSpPr txBox="true"/>
          <p:nvPr/>
        </p:nvSpPr>
        <p:spPr>
          <a:xfrm rot="0">
            <a:off x="724980" y="6475868"/>
            <a:ext cx="12759453" cy="2261578"/>
          </a:xfrm>
          <a:prstGeom prst="rect">
            <a:avLst/>
          </a:prstGeom>
        </p:spPr>
        <p:txBody>
          <a:bodyPr anchor="t" rtlCol="false" tIns="0" lIns="0" bIns="0" rIns="0">
            <a:spAutoFit/>
          </a:bodyPr>
          <a:lstStyle/>
          <a:p>
            <a:pPr algn="l">
              <a:lnSpc>
                <a:spcPts val="6071"/>
              </a:lnSpc>
            </a:pPr>
            <a:r>
              <a:rPr lang="en-US" sz="4336" b="true">
                <a:solidFill>
                  <a:srgbClr val="0B4E7C"/>
                </a:solidFill>
                <a:latin typeface="Canva Sans Bold"/>
                <a:ea typeface="Canva Sans Bold"/>
                <a:cs typeface="Canva Sans Bold"/>
                <a:sym typeface="Canva Sans Bold"/>
              </a:rPr>
              <a:t>For duplicates:</a:t>
            </a:r>
          </a:p>
          <a:p>
            <a:pPr algn="l">
              <a:lnSpc>
                <a:spcPts val="6071"/>
              </a:lnSpc>
            </a:pPr>
          </a:p>
          <a:p>
            <a:pPr algn="ctr">
              <a:lnSpc>
                <a:spcPts val="6071"/>
              </a:lnSpc>
            </a:pPr>
            <a:r>
              <a:rPr lang="en-US" sz="4336" b="true">
                <a:solidFill>
                  <a:srgbClr val="0B4E7C"/>
                </a:solidFill>
                <a:latin typeface="Canva Sans Bold"/>
                <a:ea typeface="Canva Sans Bold"/>
                <a:cs typeface="Canva Sans Bold"/>
                <a:sym typeface="Canva Sans Bold"/>
              </a:rPr>
              <a:t>  </a:t>
            </a:r>
            <a:r>
              <a:rPr lang="en-US" sz="4336">
                <a:solidFill>
                  <a:srgbClr val="0B4E7C"/>
                </a:solidFill>
                <a:latin typeface="Canva Sans"/>
                <a:ea typeface="Canva Sans"/>
                <a:cs typeface="Canva Sans"/>
                <a:sym typeface="Canva Sans"/>
              </a:rPr>
              <a:t>dropping the 73 duplicated rows in the dataset.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aphicFrame>
        <p:nvGraphicFramePr>
          <p:cNvPr name="Table 3" id="3"/>
          <p:cNvGraphicFramePr>
            <a:graphicFrameLocks noGrp="true"/>
          </p:cNvGraphicFramePr>
          <p:nvPr/>
        </p:nvGraphicFramePr>
        <p:xfrm>
          <a:off x="2057170" y="1629306"/>
          <a:ext cx="14173660" cy="8176107"/>
        </p:xfrm>
        <a:graphic>
          <a:graphicData uri="http://schemas.openxmlformats.org/drawingml/2006/table">
            <a:tbl>
              <a:tblPr/>
              <a:tblGrid>
                <a:gridCol w="2804428"/>
                <a:gridCol w="2865036"/>
                <a:gridCol w="2834732"/>
                <a:gridCol w="2834732"/>
                <a:gridCol w="2834732"/>
              </a:tblGrid>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Column no.</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Column Name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of Rows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Type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1</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Brand</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4272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Price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4272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float 64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3</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Body</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4272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Mileage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4272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int 64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5</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EngineV</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4272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float 64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20105">
                <a:tc>
                  <a:txBody>
                    <a:bodyPr anchor="t" rtlCol="false"/>
                    <a:lstStyle/>
                    <a:p>
                      <a:pPr algn="ctr">
                        <a:lnSpc>
                          <a:spcPts val="2380"/>
                        </a:lnSpc>
                        <a:defRPr/>
                      </a:pPr>
                      <a:r>
                        <a:rPr lang="en-US" sz="1700">
                          <a:solidFill>
                            <a:srgbClr val="000000"/>
                          </a:solidFill>
                          <a:latin typeface="Open Sans"/>
                          <a:ea typeface="Open Sans"/>
                          <a:cs typeface="Open Sans"/>
                          <a:sym typeface="Open Sans"/>
                        </a:rPr>
                        <a:t>6</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Engine Type</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4272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11790">
                <a:tc>
                  <a:txBody>
                    <a:bodyPr anchor="t" rtlCol="false"/>
                    <a:lstStyle/>
                    <a:p>
                      <a:pPr algn="ctr">
                        <a:lnSpc>
                          <a:spcPts val="2380"/>
                        </a:lnSpc>
                        <a:defRPr/>
                      </a:pPr>
                      <a:r>
                        <a:rPr lang="en-US" sz="1700">
                          <a:solidFill>
                            <a:srgbClr val="000000"/>
                          </a:solidFill>
                          <a:latin typeface="Open Sans"/>
                          <a:ea typeface="Open Sans"/>
                          <a:cs typeface="Open Sans"/>
                          <a:sym typeface="Open Sans"/>
                        </a:rPr>
                        <a:t>7</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Registration</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4272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11790">
                <a:tc>
                  <a:txBody>
                    <a:bodyPr anchor="t" rtlCol="false"/>
                    <a:lstStyle/>
                    <a:p>
                      <a:pPr algn="ctr">
                        <a:lnSpc>
                          <a:spcPts val="2380"/>
                        </a:lnSpc>
                        <a:defRPr/>
                      </a:pPr>
                      <a:r>
                        <a:rPr lang="en-US" sz="1700">
                          <a:solidFill>
                            <a:srgbClr val="000000"/>
                          </a:solidFill>
                          <a:latin typeface="Open Sans"/>
                          <a:ea typeface="Open Sans"/>
                          <a:cs typeface="Open Sans"/>
                          <a:sym typeface="Open Sans"/>
                        </a:rPr>
                        <a:t>8</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Year</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4272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int 64</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r h="811790">
                <a:tc>
                  <a:txBody>
                    <a:bodyPr anchor="t" rtlCol="false"/>
                    <a:lstStyle/>
                    <a:p>
                      <a:pPr algn="ctr">
                        <a:lnSpc>
                          <a:spcPts val="2380"/>
                        </a:lnSpc>
                        <a:defRPr/>
                      </a:pPr>
                      <a:r>
                        <a:rPr lang="en-US" sz="1700">
                          <a:solidFill>
                            <a:srgbClr val="000000"/>
                          </a:solidFill>
                          <a:latin typeface="Open Sans"/>
                          <a:ea typeface="Open Sans"/>
                          <a:cs typeface="Open Sans"/>
                          <a:sym typeface="Open Sans"/>
                        </a:rPr>
                        <a:t>9</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Model</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4272</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No Nulls</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c>
                  <a:txBody>
                    <a:bodyPr anchor="t" rtlCol="false"/>
                    <a:lstStyle/>
                    <a:p>
                      <a:pPr algn="ctr">
                        <a:lnSpc>
                          <a:spcPts val="2380"/>
                        </a:lnSpc>
                        <a:defRPr/>
                      </a:pPr>
                      <a:r>
                        <a:rPr lang="en-US" sz="1700">
                          <a:solidFill>
                            <a:srgbClr val="000000"/>
                          </a:solidFill>
                          <a:latin typeface="Open Sans"/>
                          <a:ea typeface="Open Sans"/>
                          <a:cs typeface="Open Sans"/>
                          <a:sym typeface="Open Sans"/>
                        </a:rPr>
                        <a:t>object</a:t>
                      </a:r>
                      <a:endParaRPr lang="en-US" sz="1100"/>
                    </a:p>
                  </a:txBody>
                  <a:tcPr marL="190500" marR="190500" marT="190500" marB="190500" anchor="ctr">
                    <a:lnL cmpd="sng" algn="ctr" cap="flat" w="9525">
                      <a:solidFill>
                        <a:srgbClr val="B4B4B4"/>
                      </a:solidFill>
                      <a:prstDash val="solid"/>
                      <a:round/>
                      <a:headEnd type="none" w="med" len="med"/>
                      <a:tailEnd type="none" w="med" len="med"/>
                    </a:lnL>
                    <a:lnR cmpd="sng" algn="ctr" cap="flat" w="9525">
                      <a:solidFill>
                        <a:srgbClr val="B4B4B4"/>
                      </a:solidFill>
                      <a:prstDash val="solid"/>
                      <a:round/>
                      <a:headEnd type="none" w="med" len="med"/>
                      <a:tailEnd type="none" w="med" len="med"/>
                    </a:lnR>
                    <a:lnT cmpd="sng" algn="ctr" cap="flat" w="9525">
                      <a:solidFill>
                        <a:srgbClr val="B4B4B4"/>
                      </a:solidFill>
                      <a:prstDash val="solid"/>
                      <a:round/>
                      <a:headEnd type="none" w="med" len="med"/>
                      <a:tailEnd type="none" w="med" len="med"/>
                    </a:lnT>
                    <a:lnB cmpd="sng" algn="ctr" cap="flat" w="9525">
                      <a:solidFill>
                        <a:srgbClr val="B4B4B4"/>
                      </a:solidFill>
                      <a:prstDash val="solid"/>
                      <a:round/>
                      <a:headEnd type="none" w="med" len="med"/>
                      <a:tailEnd type="none" w="med" len="med"/>
                    </a:lnB>
                    <a:solidFill>
                      <a:srgbClr val="FFFFFF"/>
                    </a:solidFill>
                  </a:tcPr>
                </a:tc>
              </a:tr>
            </a:tbl>
          </a:graphicData>
        </a:graphic>
      </p:graphicFrame>
      <p:sp>
        <p:nvSpPr>
          <p:cNvPr name="TextBox 4" id="4"/>
          <p:cNvSpPr txBox="true"/>
          <p:nvPr/>
        </p:nvSpPr>
        <p:spPr>
          <a:xfrm rot="0">
            <a:off x="1503758" y="-47625"/>
            <a:ext cx="15280484" cy="1417320"/>
          </a:xfrm>
          <a:prstGeom prst="rect">
            <a:avLst/>
          </a:prstGeom>
        </p:spPr>
        <p:txBody>
          <a:bodyPr anchor="t" rtlCol="false" tIns="0" lIns="0" bIns="0" rIns="0">
            <a:spAutoFit/>
          </a:bodyPr>
          <a:lstStyle/>
          <a:p>
            <a:pPr algn="ctr" marL="0" indent="0" lvl="0">
              <a:lnSpc>
                <a:spcPts val="8640"/>
              </a:lnSpc>
              <a:spcBef>
                <a:spcPct val="0"/>
              </a:spcBef>
            </a:pPr>
            <a:r>
              <a:rPr lang="en-US" sz="9000" spc="-540">
                <a:solidFill>
                  <a:srgbClr val="0B4E7C"/>
                </a:solidFill>
                <a:latin typeface="Rustic Printed"/>
                <a:ea typeface="Rustic Printed"/>
                <a:cs typeface="Rustic Printed"/>
                <a:sym typeface="Rustic Printed"/>
              </a:rPr>
              <a:t>CLEANED DATASET INFO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740351" y="780283"/>
            <a:ext cx="16230600" cy="8726435"/>
            <a:chOff x="0" y="0"/>
            <a:chExt cx="4274726" cy="2298320"/>
          </a:xfrm>
        </p:grpSpPr>
        <p:sp>
          <p:nvSpPr>
            <p:cNvPr name="Freeform 4" id="4"/>
            <p:cNvSpPr/>
            <p:nvPr/>
          </p:nvSpPr>
          <p:spPr>
            <a:xfrm flipH="false" flipV="false" rot="0">
              <a:off x="0" y="0"/>
              <a:ext cx="4274726" cy="2298320"/>
            </a:xfrm>
            <a:custGeom>
              <a:avLst/>
              <a:gdLst/>
              <a:ahLst/>
              <a:cxnLst/>
              <a:rect r="r" b="b" t="t" l="l"/>
              <a:pathLst>
                <a:path h="2298320" w="4274726">
                  <a:moveTo>
                    <a:pt x="10494" y="0"/>
                  </a:moveTo>
                  <a:lnTo>
                    <a:pt x="4264232" y="0"/>
                  </a:lnTo>
                  <a:cubicBezTo>
                    <a:pt x="4270028" y="0"/>
                    <a:pt x="4274726" y="4698"/>
                    <a:pt x="4274726" y="10494"/>
                  </a:cubicBezTo>
                  <a:lnTo>
                    <a:pt x="4274726" y="2287826"/>
                  </a:lnTo>
                  <a:cubicBezTo>
                    <a:pt x="4274726" y="2293622"/>
                    <a:pt x="4270028" y="2298320"/>
                    <a:pt x="4264232" y="2298320"/>
                  </a:cubicBezTo>
                  <a:lnTo>
                    <a:pt x="10494" y="2298320"/>
                  </a:lnTo>
                  <a:cubicBezTo>
                    <a:pt x="7711" y="2298320"/>
                    <a:pt x="5042" y="2297215"/>
                    <a:pt x="3074" y="2295247"/>
                  </a:cubicBezTo>
                  <a:cubicBezTo>
                    <a:pt x="1106" y="2293279"/>
                    <a:pt x="0" y="2290609"/>
                    <a:pt x="0" y="2287826"/>
                  </a:cubicBezTo>
                  <a:lnTo>
                    <a:pt x="0" y="10494"/>
                  </a:lnTo>
                  <a:cubicBezTo>
                    <a:pt x="0" y="4698"/>
                    <a:pt x="4698" y="0"/>
                    <a:pt x="10494" y="0"/>
                  </a:cubicBezTo>
                  <a:close/>
                </a:path>
              </a:pathLst>
            </a:custGeom>
            <a:solidFill>
              <a:srgbClr val="155C94"/>
            </a:solidFill>
          </p:spPr>
        </p:sp>
        <p:sp>
          <p:nvSpPr>
            <p:cNvPr name="TextBox 5" id="5"/>
            <p:cNvSpPr txBox="true"/>
            <p:nvPr/>
          </p:nvSpPr>
          <p:spPr>
            <a:xfrm>
              <a:off x="0" y="-38100"/>
              <a:ext cx="4274726" cy="233642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916573" y="732658"/>
            <a:ext cx="7878156" cy="1571627"/>
          </a:xfrm>
          <a:prstGeom prst="rect">
            <a:avLst/>
          </a:prstGeom>
        </p:spPr>
        <p:txBody>
          <a:bodyPr anchor="t" rtlCol="false" tIns="0" lIns="0" bIns="0" rIns="0">
            <a:spAutoFit/>
          </a:bodyPr>
          <a:lstStyle/>
          <a:p>
            <a:pPr algn="ctr" marL="0" indent="0" lvl="0">
              <a:lnSpc>
                <a:spcPts val="9600"/>
              </a:lnSpc>
            </a:pPr>
            <a:r>
              <a:rPr lang="en-US" sz="10000" spc="-600">
                <a:solidFill>
                  <a:srgbClr val="FFFFFF"/>
                </a:solidFill>
                <a:latin typeface="Rustic Printed"/>
                <a:ea typeface="Rustic Printed"/>
                <a:cs typeface="Rustic Printed"/>
                <a:sym typeface="Rustic Printed"/>
              </a:rPr>
              <a:t>STAR SCHEMA</a:t>
            </a:r>
          </a:p>
        </p:txBody>
      </p:sp>
      <p:sp>
        <p:nvSpPr>
          <p:cNvPr name="TextBox 7" id="7"/>
          <p:cNvSpPr txBox="true"/>
          <p:nvPr/>
        </p:nvSpPr>
        <p:spPr>
          <a:xfrm rot="0">
            <a:off x="1626916" y="2672714"/>
            <a:ext cx="14457471" cy="6585586"/>
          </a:xfrm>
          <a:prstGeom prst="rect">
            <a:avLst/>
          </a:prstGeom>
        </p:spPr>
        <p:txBody>
          <a:bodyPr anchor="t" rtlCol="false" tIns="0" lIns="0" bIns="0" rIns="0">
            <a:spAutoFit/>
          </a:bodyPr>
          <a:lstStyle/>
          <a:p>
            <a:pPr algn="l">
              <a:lnSpc>
                <a:spcPts val="5804"/>
              </a:lnSpc>
            </a:pPr>
            <a:r>
              <a:rPr lang="en-US" sz="4299" spc="257">
                <a:solidFill>
                  <a:srgbClr val="FFFFFF"/>
                </a:solidFill>
                <a:latin typeface="Canva Sans"/>
                <a:ea typeface="Canva Sans"/>
                <a:cs typeface="Canva Sans"/>
                <a:sym typeface="Canva Sans"/>
              </a:rPr>
              <a:t>“We transformed the raw car dataset into a Star Schema.</a:t>
            </a:r>
          </a:p>
          <a:p>
            <a:pPr algn="l">
              <a:lnSpc>
                <a:spcPts val="5804"/>
              </a:lnSpc>
            </a:pPr>
            <a:r>
              <a:rPr lang="en-US" sz="4299" spc="257">
                <a:solidFill>
                  <a:srgbClr val="FFFFFF"/>
                </a:solidFill>
                <a:latin typeface="Canva Sans"/>
                <a:ea typeface="Canva Sans"/>
                <a:cs typeface="Canva Sans"/>
                <a:sym typeface="Canva Sans"/>
              </a:rPr>
              <a:t> In the center, the Fact table contains measures like </a:t>
            </a:r>
            <a:r>
              <a:rPr lang="en-US" b="true" sz="4299" i="true" spc="257">
                <a:solidFill>
                  <a:srgbClr val="FFFFFF"/>
                </a:solidFill>
                <a:latin typeface="Canva Sans Bold Italics"/>
                <a:ea typeface="Canva Sans Bold Italics"/>
                <a:cs typeface="Canva Sans Bold Italics"/>
                <a:sym typeface="Canva Sans Bold Italics"/>
              </a:rPr>
              <a:t>Price, Mileage, and Engine size</a:t>
            </a:r>
            <a:r>
              <a:rPr lang="en-US" sz="4299" spc="257">
                <a:solidFill>
                  <a:srgbClr val="FFFFFF"/>
                </a:solidFill>
                <a:latin typeface="Canva Sans"/>
                <a:ea typeface="Canva Sans"/>
                <a:cs typeface="Canva Sans"/>
                <a:sym typeface="Canva Sans"/>
              </a:rPr>
              <a:t>.</a:t>
            </a:r>
          </a:p>
          <a:p>
            <a:pPr algn="l">
              <a:lnSpc>
                <a:spcPts val="5804"/>
              </a:lnSpc>
            </a:pPr>
            <a:r>
              <a:rPr lang="en-US" sz="4299" spc="257">
                <a:solidFill>
                  <a:srgbClr val="FFFFFF"/>
                </a:solidFill>
                <a:latin typeface="Canva Sans"/>
                <a:ea typeface="Canva Sans"/>
                <a:cs typeface="Canva Sans"/>
                <a:sym typeface="Canva Sans"/>
              </a:rPr>
              <a:t> Around it, Dimension tables describe </a:t>
            </a:r>
            <a:r>
              <a:rPr lang="en-US" b="true" sz="4299" i="true" spc="257">
                <a:solidFill>
                  <a:srgbClr val="FFFFFF"/>
                </a:solidFill>
                <a:latin typeface="Canva Sans Bold Italics"/>
                <a:ea typeface="Canva Sans Bold Italics"/>
                <a:cs typeface="Canva Sans Bold Italics"/>
                <a:sym typeface="Canva Sans Bold Italics"/>
              </a:rPr>
              <a:t>Brand, Model, Year, Engine Type, and Registration</a:t>
            </a:r>
            <a:r>
              <a:rPr lang="en-US" sz="4299" spc="257">
                <a:solidFill>
                  <a:srgbClr val="FFFFFF"/>
                </a:solidFill>
                <a:latin typeface="Canva Sans"/>
                <a:ea typeface="Canva Sans"/>
                <a:cs typeface="Canva Sans"/>
                <a:sym typeface="Canva Sans"/>
              </a:rPr>
              <a:t>.</a:t>
            </a:r>
          </a:p>
          <a:p>
            <a:pPr algn="l">
              <a:lnSpc>
                <a:spcPts val="5804"/>
              </a:lnSpc>
            </a:pPr>
            <a:r>
              <a:rPr lang="en-US" sz="4299" spc="257">
                <a:solidFill>
                  <a:srgbClr val="FFFFFF"/>
                </a:solidFill>
                <a:latin typeface="Canva Sans"/>
                <a:ea typeface="Canva Sans"/>
                <a:cs typeface="Canva Sans"/>
                <a:sym typeface="Canva Sans"/>
              </a:rPr>
              <a:t> This structure makes analysis easier and more insightful.”</a:t>
            </a:r>
          </a:p>
          <a:p>
            <a:pPr algn="l" marL="0" indent="0" lvl="0">
              <a:lnSpc>
                <a:spcPts val="5804"/>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0" y="1369695"/>
            <a:ext cx="11410147" cy="8917305"/>
          </a:xfrm>
          <a:custGeom>
            <a:avLst/>
            <a:gdLst/>
            <a:ahLst/>
            <a:cxnLst/>
            <a:rect r="r" b="b" t="t" l="l"/>
            <a:pathLst>
              <a:path h="8917305" w="11410147">
                <a:moveTo>
                  <a:pt x="0" y="0"/>
                </a:moveTo>
                <a:lnTo>
                  <a:pt x="11410147" y="0"/>
                </a:lnTo>
                <a:lnTo>
                  <a:pt x="11410147" y="8917305"/>
                </a:lnTo>
                <a:lnTo>
                  <a:pt x="0" y="8917305"/>
                </a:lnTo>
                <a:lnTo>
                  <a:pt x="0" y="0"/>
                </a:lnTo>
                <a:close/>
              </a:path>
            </a:pathLst>
          </a:custGeom>
          <a:blipFill>
            <a:blip r:embed="rId3"/>
            <a:stretch>
              <a:fillRect l="-600" t="-147" r="-8281" b="-147"/>
            </a:stretch>
          </a:blipFill>
        </p:spPr>
      </p:sp>
      <p:sp>
        <p:nvSpPr>
          <p:cNvPr name="TextBox 4" id="4"/>
          <p:cNvSpPr txBox="true"/>
          <p:nvPr/>
        </p:nvSpPr>
        <p:spPr>
          <a:xfrm rot="0">
            <a:off x="1503758" y="-47625"/>
            <a:ext cx="15280484" cy="1417320"/>
          </a:xfrm>
          <a:prstGeom prst="rect">
            <a:avLst/>
          </a:prstGeom>
        </p:spPr>
        <p:txBody>
          <a:bodyPr anchor="t" rtlCol="false" tIns="0" lIns="0" bIns="0" rIns="0">
            <a:spAutoFit/>
          </a:bodyPr>
          <a:lstStyle/>
          <a:p>
            <a:pPr algn="ctr" marL="0" indent="0" lvl="0">
              <a:lnSpc>
                <a:spcPts val="8640"/>
              </a:lnSpc>
              <a:spcBef>
                <a:spcPct val="0"/>
              </a:spcBef>
            </a:pPr>
            <a:r>
              <a:rPr lang="en-US" sz="9000" spc="-540">
                <a:solidFill>
                  <a:srgbClr val="0B4E7C"/>
                </a:solidFill>
                <a:latin typeface="Rustic Printed"/>
                <a:ea typeface="Rustic Printed"/>
                <a:cs typeface="Rustic Printed"/>
                <a:sym typeface="Rustic Printed"/>
              </a:rPr>
              <a:t>STAR SCHEMA DATA MODEL</a:t>
            </a:r>
          </a:p>
        </p:txBody>
      </p:sp>
      <p:sp>
        <p:nvSpPr>
          <p:cNvPr name="TextBox 5" id="5"/>
          <p:cNvSpPr txBox="true"/>
          <p:nvPr/>
        </p:nvSpPr>
        <p:spPr>
          <a:xfrm rot="0">
            <a:off x="10269636" y="7862579"/>
            <a:ext cx="7240567" cy="2734292"/>
          </a:xfrm>
          <a:prstGeom prst="rect">
            <a:avLst/>
          </a:prstGeom>
        </p:spPr>
        <p:txBody>
          <a:bodyPr anchor="t" rtlCol="false" tIns="0" lIns="0" bIns="0" rIns="0">
            <a:spAutoFit/>
          </a:bodyPr>
          <a:lstStyle/>
          <a:p>
            <a:pPr algn="l" marL="1684488" indent="-421122" lvl="3">
              <a:lnSpc>
                <a:spcPts val="3641"/>
              </a:lnSpc>
              <a:buFont typeface="Arial"/>
              <a:buChar char="￭"/>
            </a:pPr>
            <a:r>
              <a:rPr lang="en-US" b="true" sz="2600">
                <a:solidFill>
                  <a:srgbClr val="000000"/>
                </a:solidFill>
                <a:latin typeface="Canva Sans Bold"/>
                <a:ea typeface="Canva Sans Bold"/>
                <a:cs typeface="Canva Sans Bold"/>
                <a:sym typeface="Canva Sans Bold"/>
              </a:rPr>
              <a:t>F</a:t>
            </a:r>
            <a:r>
              <a:rPr lang="en-US" b="true" sz="2600">
                <a:solidFill>
                  <a:srgbClr val="000000"/>
                </a:solidFill>
                <a:latin typeface="Canva Sans Bold"/>
                <a:ea typeface="Canva Sans Bold"/>
                <a:cs typeface="Canva Sans Bold"/>
                <a:sym typeface="Canva Sans Bold"/>
              </a:rPr>
              <a:t>act Table → </a:t>
            </a:r>
            <a:r>
              <a:rPr lang="en-US" b="true" sz="2600" i="true">
                <a:solidFill>
                  <a:srgbClr val="000000"/>
                </a:solidFill>
                <a:latin typeface="Canva Sans Bold Italics"/>
                <a:ea typeface="Canva Sans Bold Italics"/>
                <a:cs typeface="Canva Sans Bold Italics"/>
                <a:sym typeface="Canva Sans Bold Italics"/>
              </a:rPr>
              <a:t>Price, Mileage, EngineV</a:t>
            </a:r>
          </a:p>
          <a:p>
            <a:pPr algn="l" marL="1684488" indent="-421122" lvl="3">
              <a:lnSpc>
                <a:spcPts val="3641"/>
              </a:lnSpc>
              <a:buFont typeface="Arial"/>
              <a:buChar char="￭"/>
            </a:pPr>
            <a:r>
              <a:rPr lang="en-US" b="true" sz="2600">
                <a:solidFill>
                  <a:srgbClr val="000000"/>
                </a:solidFill>
                <a:latin typeface="Canva Sans Bold"/>
                <a:ea typeface="Canva Sans Bold"/>
                <a:cs typeface="Canva Sans Bold"/>
                <a:sym typeface="Canva Sans Bold"/>
              </a:rPr>
              <a:t>Dimension Tables → </a:t>
            </a:r>
            <a:r>
              <a:rPr lang="en-US" b="true" sz="2600" i="true">
                <a:solidFill>
                  <a:srgbClr val="000000"/>
                </a:solidFill>
                <a:latin typeface="Canva Sans Bold Italics"/>
                <a:ea typeface="Canva Sans Bold Italics"/>
                <a:cs typeface="Canva Sans Bold Italics"/>
                <a:sym typeface="Canva Sans Bold Italics"/>
              </a:rPr>
              <a:t>Brand, Model, Body, Engine, Year, Registration</a:t>
            </a:r>
          </a:p>
          <a:p>
            <a:pPr algn="l" marL="1684488" indent="-421122" lvl="3">
              <a:lnSpc>
                <a:spcPts val="3641"/>
              </a:lnSpc>
              <a:buFont typeface="Arial"/>
              <a:buChar char="￭"/>
            </a:pPr>
            <a:r>
              <a:rPr lang="en-US" b="true" sz="2600">
                <a:solidFill>
                  <a:srgbClr val="000000"/>
                </a:solidFill>
                <a:latin typeface="Canva Sans Bold"/>
                <a:ea typeface="Canva Sans Bold"/>
                <a:cs typeface="Canva Sans Bold"/>
                <a:sym typeface="Canva Sans Bold"/>
              </a:rPr>
              <a:t>Relationships → one-to-many</a:t>
            </a:r>
          </a:p>
          <a:p>
            <a:pPr algn="l">
              <a:lnSpc>
                <a:spcPts val="3641"/>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sp>
        <p:nvSpPr>
          <p:cNvPr name="Freeform 3" id="3"/>
          <p:cNvSpPr/>
          <p:nvPr/>
        </p:nvSpPr>
        <p:spPr>
          <a:xfrm flipH="false" flipV="false" rot="0">
            <a:off x="-1763162" y="-789039"/>
            <a:ext cx="2875332" cy="3635478"/>
          </a:xfrm>
          <a:custGeom>
            <a:avLst/>
            <a:gdLst/>
            <a:ahLst/>
            <a:cxnLst/>
            <a:rect r="r" b="b" t="t" l="l"/>
            <a:pathLst>
              <a:path h="3635478" w="2875332">
                <a:moveTo>
                  <a:pt x="0" y="0"/>
                </a:moveTo>
                <a:lnTo>
                  <a:pt x="2875333" y="0"/>
                </a:lnTo>
                <a:lnTo>
                  <a:pt x="2875333" y="3635478"/>
                </a:lnTo>
                <a:lnTo>
                  <a:pt x="0" y="36354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1044801" y="9258300"/>
            <a:ext cx="5315394" cy="1913542"/>
          </a:xfrm>
          <a:custGeom>
            <a:avLst/>
            <a:gdLst/>
            <a:ahLst/>
            <a:cxnLst/>
            <a:rect r="r" b="b" t="t" l="l"/>
            <a:pathLst>
              <a:path h="1913542" w="5315394">
                <a:moveTo>
                  <a:pt x="0" y="0"/>
                </a:moveTo>
                <a:lnTo>
                  <a:pt x="5315394" y="0"/>
                </a:lnTo>
                <a:lnTo>
                  <a:pt x="5315394" y="1913542"/>
                </a:lnTo>
                <a:lnTo>
                  <a:pt x="0" y="19135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5" id="5"/>
          <p:cNvSpPr txBox="true"/>
          <p:nvPr/>
        </p:nvSpPr>
        <p:spPr>
          <a:xfrm rot="0">
            <a:off x="5157161" y="1818354"/>
            <a:ext cx="7973677" cy="6764592"/>
          </a:xfrm>
          <a:prstGeom prst="rect">
            <a:avLst/>
          </a:prstGeom>
        </p:spPr>
        <p:txBody>
          <a:bodyPr anchor="t" rtlCol="false" tIns="0" lIns="0" bIns="0" rIns="0">
            <a:spAutoFit/>
          </a:bodyPr>
          <a:lstStyle/>
          <a:p>
            <a:pPr algn="ctr" marL="0" indent="0" lvl="0">
              <a:lnSpc>
                <a:spcPts val="15866"/>
              </a:lnSpc>
            </a:pPr>
            <a:r>
              <a:rPr lang="en-US" sz="18888" spc="-1133">
                <a:solidFill>
                  <a:srgbClr val="0B4E7C"/>
                </a:solidFill>
                <a:latin typeface="Rustic Printed"/>
                <a:ea typeface="Rustic Printed"/>
                <a:cs typeface="Rustic Printed"/>
                <a:sym typeface="Rustic Printed"/>
              </a:rPr>
              <a:t>THANK YOU VERY MUCH!</a:t>
            </a:r>
          </a:p>
        </p:txBody>
      </p:sp>
      <p:sp>
        <p:nvSpPr>
          <p:cNvPr name="Freeform 6" id="6"/>
          <p:cNvSpPr/>
          <p:nvPr/>
        </p:nvSpPr>
        <p:spPr>
          <a:xfrm flipH="false" flipV="false" rot="2830164">
            <a:off x="5322070" y="8801780"/>
            <a:ext cx="3550978" cy="3705954"/>
          </a:xfrm>
          <a:custGeom>
            <a:avLst/>
            <a:gdLst/>
            <a:ahLst/>
            <a:cxnLst/>
            <a:rect r="r" b="b" t="t" l="l"/>
            <a:pathLst>
              <a:path h="3705954" w="3550978">
                <a:moveTo>
                  <a:pt x="0" y="0"/>
                </a:moveTo>
                <a:lnTo>
                  <a:pt x="3550978" y="0"/>
                </a:lnTo>
                <a:lnTo>
                  <a:pt x="3550978" y="3705955"/>
                </a:lnTo>
                <a:lnTo>
                  <a:pt x="0" y="37059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950933">
            <a:off x="-2582731" y="3638336"/>
            <a:ext cx="4236628" cy="4828066"/>
          </a:xfrm>
          <a:custGeom>
            <a:avLst/>
            <a:gdLst/>
            <a:ahLst/>
            <a:cxnLst/>
            <a:rect r="r" b="b" t="t" l="l"/>
            <a:pathLst>
              <a:path h="4828066" w="4236628">
                <a:moveTo>
                  <a:pt x="0" y="0"/>
                </a:moveTo>
                <a:lnTo>
                  <a:pt x="4236628" y="0"/>
                </a:lnTo>
                <a:lnTo>
                  <a:pt x="4236628" y="4828066"/>
                </a:lnTo>
                <a:lnTo>
                  <a:pt x="0" y="48280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8" id="8"/>
          <p:cNvSpPr/>
          <p:nvPr/>
        </p:nvSpPr>
        <p:spPr>
          <a:xfrm flipH="false" flipV="false" rot="0">
            <a:off x="15584336" y="-1920382"/>
            <a:ext cx="4623736" cy="3907057"/>
          </a:xfrm>
          <a:custGeom>
            <a:avLst/>
            <a:gdLst/>
            <a:ahLst/>
            <a:cxnLst/>
            <a:rect r="r" b="b" t="t" l="l"/>
            <a:pathLst>
              <a:path h="3907057" w="4623736">
                <a:moveTo>
                  <a:pt x="0" y="0"/>
                </a:moveTo>
                <a:lnTo>
                  <a:pt x="4623735" y="0"/>
                </a:lnTo>
                <a:lnTo>
                  <a:pt x="4623735" y="3907057"/>
                </a:lnTo>
                <a:lnTo>
                  <a:pt x="0" y="390705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9" id="9"/>
          <p:cNvSpPr/>
          <p:nvPr/>
        </p:nvSpPr>
        <p:spPr>
          <a:xfrm flipH="false" flipV="false" rot="-366315">
            <a:off x="16272866" y="2044607"/>
            <a:ext cx="3659690" cy="4299195"/>
          </a:xfrm>
          <a:custGeom>
            <a:avLst/>
            <a:gdLst/>
            <a:ahLst/>
            <a:cxnLst/>
            <a:rect r="r" b="b" t="t" l="l"/>
            <a:pathLst>
              <a:path h="4299195" w="3659690">
                <a:moveTo>
                  <a:pt x="0" y="0"/>
                </a:moveTo>
                <a:lnTo>
                  <a:pt x="3659690" y="0"/>
                </a:lnTo>
                <a:lnTo>
                  <a:pt x="3659690" y="4299195"/>
                </a:lnTo>
                <a:lnTo>
                  <a:pt x="0" y="429919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4624977" y="-3611469"/>
            <a:ext cx="4567505" cy="4720935"/>
          </a:xfrm>
          <a:custGeom>
            <a:avLst/>
            <a:gdLst/>
            <a:ahLst/>
            <a:cxnLst/>
            <a:rect r="r" b="b" t="t" l="l"/>
            <a:pathLst>
              <a:path h="4720935" w="4567505">
                <a:moveTo>
                  <a:pt x="0" y="0"/>
                </a:moveTo>
                <a:lnTo>
                  <a:pt x="4567505" y="0"/>
                </a:lnTo>
                <a:lnTo>
                  <a:pt x="4567505" y="4720935"/>
                </a:lnTo>
                <a:lnTo>
                  <a:pt x="0" y="472093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1" id="11"/>
          <p:cNvSpPr/>
          <p:nvPr/>
        </p:nvSpPr>
        <p:spPr>
          <a:xfrm flipH="false" flipV="false" rot="0">
            <a:off x="9924524" y="8931997"/>
            <a:ext cx="5331561" cy="3445521"/>
          </a:xfrm>
          <a:custGeom>
            <a:avLst/>
            <a:gdLst/>
            <a:ahLst/>
            <a:cxnLst/>
            <a:rect r="r" b="b" t="t" l="l"/>
            <a:pathLst>
              <a:path h="3445521" w="5331561">
                <a:moveTo>
                  <a:pt x="0" y="0"/>
                </a:moveTo>
                <a:lnTo>
                  <a:pt x="5331562" y="0"/>
                </a:lnTo>
                <a:lnTo>
                  <a:pt x="5331562" y="3445521"/>
                </a:lnTo>
                <a:lnTo>
                  <a:pt x="0" y="344552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2" id="12"/>
          <p:cNvSpPr/>
          <p:nvPr/>
        </p:nvSpPr>
        <p:spPr>
          <a:xfrm flipH="false" flipV="false" rot="0">
            <a:off x="15513261" y="7125624"/>
            <a:ext cx="3869837" cy="4265352"/>
          </a:xfrm>
          <a:custGeom>
            <a:avLst/>
            <a:gdLst/>
            <a:ahLst/>
            <a:cxnLst/>
            <a:rect r="r" b="b" t="t" l="l"/>
            <a:pathLst>
              <a:path h="4265352" w="3869837">
                <a:moveTo>
                  <a:pt x="0" y="0"/>
                </a:moveTo>
                <a:lnTo>
                  <a:pt x="3869837" y="0"/>
                </a:lnTo>
                <a:lnTo>
                  <a:pt x="3869837" y="4265352"/>
                </a:lnTo>
                <a:lnTo>
                  <a:pt x="0" y="426535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3" id="13"/>
          <p:cNvSpPr/>
          <p:nvPr/>
        </p:nvSpPr>
        <p:spPr>
          <a:xfrm flipH="false" flipV="false" rot="-10800000">
            <a:off x="9144000" y="-1365351"/>
            <a:ext cx="6660247" cy="2730701"/>
          </a:xfrm>
          <a:custGeom>
            <a:avLst/>
            <a:gdLst/>
            <a:ahLst/>
            <a:cxnLst/>
            <a:rect r="r" b="b" t="t" l="l"/>
            <a:pathLst>
              <a:path h="2730701" w="6660247">
                <a:moveTo>
                  <a:pt x="0" y="0"/>
                </a:moveTo>
                <a:lnTo>
                  <a:pt x="6660247" y="0"/>
                </a:lnTo>
                <a:lnTo>
                  <a:pt x="6660247" y="2730702"/>
                </a:lnTo>
                <a:lnTo>
                  <a:pt x="0" y="273070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4" id="14"/>
          <p:cNvSpPr/>
          <p:nvPr/>
        </p:nvSpPr>
        <p:spPr>
          <a:xfrm flipH="false" flipV="false" rot="-2611628">
            <a:off x="1608356" y="-1969747"/>
            <a:ext cx="4007991" cy="3041063"/>
          </a:xfrm>
          <a:custGeom>
            <a:avLst/>
            <a:gdLst/>
            <a:ahLst/>
            <a:cxnLst/>
            <a:rect r="r" b="b" t="t" l="l"/>
            <a:pathLst>
              <a:path h="3041063" w="4007991">
                <a:moveTo>
                  <a:pt x="0" y="0"/>
                </a:moveTo>
                <a:lnTo>
                  <a:pt x="4007991" y="0"/>
                </a:lnTo>
                <a:lnTo>
                  <a:pt x="4007991" y="3041063"/>
                </a:lnTo>
                <a:lnTo>
                  <a:pt x="0" y="304106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5" id="15"/>
          <p:cNvSpPr/>
          <p:nvPr/>
        </p:nvSpPr>
        <p:spPr>
          <a:xfrm flipH="false" flipV="false" rot="3439542">
            <a:off x="12477745" y="2571123"/>
            <a:ext cx="2770524" cy="1664799"/>
          </a:xfrm>
          <a:custGeom>
            <a:avLst/>
            <a:gdLst/>
            <a:ahLst/>
            <a:cxnLst/>
            <a:rect r="r" b="b" t="t" l="l"/>
            <a:pathLst>
              <a:path h="1664799" w="2770524">
                <a:moveTo>
                  <a:pt x="0" y="0"/>
                </a:moveTo>
                <a:lnTo>
                  <a:pt x="2770524" y="0"/>
                </a:lnTo>
                <a:lnTo>
                  <a:pt x="2770524" y="1664800"/>
                </a:lnTo>
                <a:lnTo>
                  <a:pt x="0" y="1664800"/>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6" id="16"/>
          <p:cNvSpPr/>
          <p:nvPr/>
        </p:nvSpPr>
        <p:spPr>
          <a:xfrm flipH="false" flipV="false" rot="-7235282">
            <a:off x="3033323" y="6293225"/>
            <a:ext cx="2770524" cy="1664799"/>
          </a:xfrm>
          <a:custGeom>
            <a:avLst/>
            <a:gdLst/>
            <a:ahLst/>
            <a:cxnLst/>
            <a:rect r="r" b="b" t="t" l="l"/>
            <a:pathLst>
              <a:path h="1664799" w="2770524">
                <a:moveTo>
                  <a:pt x="0" y="0"/>
                </a:moveTo>
                <a:lnTo>
                  <a:pt x="2770524" y="0"/>
                </a:lnTo>
                <a:lnTo>
                  <a:pt x="2770524" y="1664799"/>
                </a:lnTo>
                <a:lnTo>
                  <a:pt x="0" y="166479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7" id="17"/>
          <p:cNvSpPr/>
          <p:nvPr/>
        </p:nvSpPr>
        <p:spPr>
          <a:xfrm flipH="true" flipV="false" rot="0">
            <a:off x="4270593" y="2757734"/>
            <a:ext cx="1198548" cy="1291578"/>
          </a:xfrm>
          <a:custGeom>
            <a:avLst/>
            <a:gdLst/>
            <a:ahLst/>
            <a:cxnLst/>
            <a:rect r="r" b="b" t="t" l="l"/>
            <a:pathLst>
              <a:path h="1291578" w="1198548">
                <a:moveTo>
                  <a:pt x="1198548" y="0"/>
                </a:moveTo>
                <a:lnTo>
                  <a:pt x="0" y="0"/>
                </a:lnTo>
                <a:lnTo>
                  <a:pt x="0" y="1291578"/>
                </a:lnTo>
                <a:lnTo>
                  <a:pt x="1198548" y="1291578"/>
                </a:lnTo>
                <a:lnTo>
                  <a:pt x="1198548"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8" id="18"/>
          <p:cNvSpPr/>
          <p:nvPr/>
        </p:nvSpPr>
        <p:spPr>
          <a:xfrm flipH="false" flipV="false" rot="0">
            <a:off x="12722864" y="6511304"/>
            <a:ext cx="1140143" cy="1228640"/>
          </a:xfrm>
          <a:custGeom>
            <a:avLst/>
            <a:gdLst/>
            <a:ahLst/>
            <a:cxnLst/>
            <a:rect r="r" b="b" t="t" l="l"/>
            <a:pathLst>
              <a:path h="1228640" w="1140143">
                <a:moveTo>
                  <a:pt x="0" y="0"/>
                </a:moveTo>
                <a:lnTo>
                  <a:pt x="1140143" y="0"/>
                </a:lnTo>
                <a:lnTo>
                  <a:pt x="1140143" y="1228640"/>
                </a:lnTo>
                <a:lnTo>
                  <a:pt x="0" y="122864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DAGzJZH9_II</dc:identifier>
  <dcterms:modified xsi:type="dcterms:W3CDTF">2011-08-01T06:04:30Z</dcterms:modified>
  <cp:revision>1</cp:revision>
  <dc:title>Blue and Green Organic Group Project Presentation</dc:title>
</cp:coreProperties>
</file>